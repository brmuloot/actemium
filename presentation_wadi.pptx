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DB7A680-4E2C-4A8E-B37A-60B6E6711105}">
  <a:tblStyle styleId="{3DB7A680-4E2C-4A8E-B37A-60B6E671110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schemas.openxmlformats.org/officeDocument/2006/relationships/slide" Target="slides/slide19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a81095315_0_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3da81095315_0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da81095315_0_7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a81095315_0_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da81095315_0_1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da81095315_0_10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da81095315_0_1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da81095315_0_1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da81095315_0_1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da81095315_0_1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g3da81095315_0_1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da81095315_0_19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da81095315_0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g3da81095315_0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da81095315_0_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da81095315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g3da81095315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da81095315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da81095315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g3da81095315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g3da81095315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da81095315_0_2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g3da81095315_0_2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g3da81095315_0_2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594360" y="731520"/>
            <a:ext cx="77724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Prévision du niveau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 réservoir WADI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94360" y="274320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Forecasting multivarié temporel — Horizon 10 min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94360" y="3474720"/>
            <a:ext cx="1280160" cy="411480"/>
          </a:xfrm>
          <a:prstGeom prst="roundRect">
            <a:avLst>
              <a:gd fmla="val 11111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594360" y="347472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2011680" y="3474720"/>
            <a:ext cx="1280160" cy="411480"/>
          </a:xfrm>
          <a:prstGeom prst="roundRect">
            <a:avLst>
              <a:gd fmla="val 11111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2011680" y="347472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Preprocessing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3429000" y="3474720"/>
            <a:ext cx="1280160" cy="411480"/>
          </a:xfrm>
          <a:prstGeom prst="roundRect">
            <a:avLst>
              <a:gd fmla="val 11111" name="adj"/>
            </a:avLst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3429000" y="347472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Baselines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4846320" y="3474720"/>
            <a:ext cx="1280160" cy="411480"/>
          </a:xfrm>
          <a:prstGeom prst="roundRect">
            <a:avLst>
              <a:gd fmla="val 11111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4846320" y="347472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6263640" y="3474720"/>
            <a:ext cx="1280160" cy="411480"/>
          </a:xfrm>
          <a:prstGeom prst="roundRect">
            <a:avLst>
              <a:gd fmla="val 11111" name="adj"/>
            </a:avLst>
          </a:prstGeom>
          <a:solidFill>
            <a:srgbClr val="0596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6263640" y="347472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7680960" y="3474720"/>
            <a:ext cx="1280160" cy="411480"/>
          </a:xfrm>
          <a:prstGeom prst="roundRect">
            <a:avLst>
              <a:gd fmla="val 11111" name="adj"/>
            </a:avLst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7680960" y="347472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594360" y="45720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Département X  ·  Cours / Module  ·  Décembre 2025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Plan de la présentation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57200" y="1097280"/>
            <a:ext cx="4114800" cy="1005840"/>
          </a:xfrm>
          <a:prstGeom prst="rect">
            <a:avLst/>
          </a:prstGeom>
          <a:solidFill>
            <a:srgbClr val="E8F4F8"/>
          </a:solidFill>
          <a:ln cap="flat" cmpd="sng" w="12700">
            <a:solidFill>
              <a:srgbClr val="E8F4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57200" y="1097280"/>
            <a:ext cx="731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594360" y="1097280"/>
            <a:ext cx="548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1143000" y="1170432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Contexte &amp; données WADI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143000" y="1554480"/>
            <a:ext cx="3337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Banc d'essai industriel · 784 571 mesures secondaires · 127 capteurs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4754880" y="1097280"/>
            <a:ext cx="4114800" cy="1005840"/>
          </a:xfrm>
          <a:prstGeom prst="rect">
            <a:avLst/>
          </a:prstGeom>
          <a:solidFill>
            <a:srgbClr val="E8F4F8"/>
          </a:solidFill>
          <a:ln cap="flat" cmpd="sng" w="12700">
            <a:solidFill>
              <a:srgbClr val="E8F4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4754880" y="1097280"/>
            <a:ext cx="731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4892040" y="1097280"/>
            <a:ext cx="548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5440680" y="1170432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Exploration (EDA)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5440680" y="1554480"/>
            <a:ext cx="3337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Distribution de la cible · Corrélations · Relations physiques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457200" y="2331720"/>
            <a:ext cx="4114800" cy="1005840"/>
          </a:xfrm>
          <a:prstGeom prst="rect">
            <a:avLst/>
          </a:prstGeom>
          <a:solidFill>
            <a:srgbClr val="E8F4F8"/>
          </a:solidFill>
          <a:ln cap="flat" cmpd="sng" w="12700">
            <a:solidFill>
              <a:srgbClr val="E8F4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457200" y="2331720"/>
            <a:ext cx="731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594360" y="2331720"/>
            <a:ext cx="548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1143000" y="2404872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Préprocessing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1143000" y="2788920"/>
            <a:ext cx="3337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Nettoyage · Sélection 35 features · Lags 30 · Split 80/20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4754880" y="2331720"/>
            <a:ext cx="4114800" cy="1005840"/>
          </a:xfrm>
          <a:prstGeom prst="rect">
            <a:avLst/>
          </a:prstGeom>
          <a:solidFill>
            <a:srgbClr val="E8F4F8"/>
          </a:solidFill>
          <a:ln cap="flat" cmpd="sng" w="12700">
            <a:solidFill>
              <a:srgbClr val="E8F4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4754880" y="2331720"/>
            <a:ext cx="731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4892040" y="2331720"/>
            <a:ext cx="548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5440680" y="2404872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Baselines &amp; Modèles ML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5440680" y="2788920"/>
            <a:ext cx="3337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Persistence · Random Forest · XGBoost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457200" y="3566160"/>
            <a:ext cx="4114800" cy="1005840"/>
          </a:xfrm>
          <a:prstGeom prst="rect">
            <a:avLst/>
          </a:prstGeom>
          <a:solidFill>
            <a:srgbClr val="E8F4F8"/>
          </a:solidFill>
          <a:ln cap="flat" cmpd="sng" w="12700">
            <a:solidFill>
              <a:srgbClr val="E8F4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457200" y="3566160"/>
            <a:ext cx="731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594360" y="3566160"/>
            <a:ext cx="548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1143000" y="3639312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Modèles Deep Learning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1143000" y="4023360"/>
            <a:ext cx="3337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LSTM · GRU · Séquences 3D (30 timesteps)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4754880" y="3566160"/>
            <a:ext cx="4114800" cy="1005840"/>
          </a:xfrm>
          <a:prstGeom prst="rect">
            <a:avLst/>
          </a:prstGeom>
          <a:solidFill>
            <a:srgbClr val="E8F4F8"/>
          </a:solidFill>
          <a:ln cap="flat" cmpd="sng" w="12700">
            <a:solidFill>
              <a:srgbClr val="E8F4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4754880" y="3566160"/>
            <a:ext cx="731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4892040" y="3566160"/>
            <a:ext cx="548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5440680" y="3639312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Analyse SHAP &amp; Conclusions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5440680" y="4023360"/>
            <a:ext cx="3337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Feature importance · Résultats finaux · Extensions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Contexte &amp; Données WADI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457200" y="960120"/>
            <a:ext cx="3840480" cy="3474720"/>
          </a:xfrm>
          <a:prstGeom prst="rect">
            <a:avLst/>
          </a:prstGeom>
          <a:solidFill>
            <a:srgbClr val="E8F4F8"/>
          </a:solidFill>
          <a:ln cap="flat" cmpd="sng" w="12700">
            <a:solidFill>
              <a:srgbClr val="E8F4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548640" y="105156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WADI — Water Distribution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594360" y="1508760"/>
            <a:ext cx="35661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Banc d'essai industriel (iTrust, Singapour)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Capteurs physiques + actionneurs + SCADA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Pompes, vannes, débitmètres, pressiomètres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Cas réel d'infrastructure critique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548640" y="33832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Objectif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94360" y="3703320"/>
            <a:ext cx="3566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Prédire 1_LT_001_PV (niveau du réservoir) à t+10 min pour anticiper les débordements et optimiser le pompage.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4572000" y="960120"/>
            <a:ext cx="4114800" cy="34747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4663440" y="105156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en chiffres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4663440" y="150876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784 571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6675120" y="150876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lignes (1 seconde / ligne)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4663440" y="201168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127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6675120" y="201168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colonnes / capteurs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4663440" y="251460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12 jours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6675120" y="251460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du 25/09 au 07/10/2017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4663440" y="301752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35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6675120" y="301752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features sélectionnées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4663440" y="352044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10 min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6675120" y="352044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horizon de prédiction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4663440" y="402336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80 / 20%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6675120" y="402336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split train / test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Exploration des données (EDA)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Variable cible : 1_LT_001_PV (niveau réservoir en %)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457200" y="1371600"/>
            <a:ext cx="1828800" cy="1005840"/>
          </a:xfrm>
          <a:prstGeom prst="rect">
            <a:avLst/>
          </a:prstGeom>
          <a:solidFill>
            <a:srgbClr val="E8F4F8"/>
          </a:solidFill>
          <a:ln cap="flat" cmpd="sng" w="12700">
            <a:solidFill>
              <a:srgbClr val="E8F4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457200" y="141732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56.4%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457200" y="196596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Moyenne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2560320" y="1371600"/>
            <a:ext cx="1828800" cy="1005840"/>
          </a:xfrm>
          <a:prstGeom prst="rect">
            <a:avLst/>
          </a:prstGeom>
          <a:solidFill>
            <a:srgbClr val="E8F4F8"/>
          </a:solidFill>
          <a:ln cap="flat" cmpd="sng" w="12700">
            <a:solidFill>
              <a:srgbClr val="E8F4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2560320" y="141732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38.8%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2560320" y="196596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4663440" y="1371600"/>
            <a:ext cx="1828800" cy="1005840"/>
          </a:xfrm>
          <a:prstGeom prst="rect">
            <a:avLst/>
          </a:prstGeom>
          <a:solidFill>
            <a:srgbClr val="E8F4F8"/>
          </a:solidFill>
          <a:ln cap="flat" cmpd="sng" w="12700">
            <a:solidFill>
              <a:srgbClr val="E8F4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4663440" y="141732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8.85%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4663440" y="196596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Écart-type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6766560" y="1371600"/>
            <a:ext cx="1828800" cy="1005840"/>
          </a:xfrm>
          <a:prstGeom prst="rect">
            <a:avLst/>
          </a:prstGeom>
          <a:solidFill>
            <a:srgbClr val="E8F4F8"/>
          </a:solidFill>
          <a:ln cap="flat" cmpd="sng" w="12700">
            <a:solidFill>
              <a:srgbClr val="E8F4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6766560" y="141732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~85%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6766560" y="196596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Max approx.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457200" y="260604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Insights clés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457200" y="2971800"/>
            <a:ext cx="39319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4 colonnes 100% vides → supprimées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4 colonnes avec quelques NaN → interpolation linéaire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Variation max en 1s : +5.3 / −10.4 (chocs hydrauliques)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Forte autocorrélation : corr(t, t−10min) ≈ 0.92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1_MV_004_STATUS : corrélation 0.65 avec la cible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4663440" y="260604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Top corrélations avec cible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4663440" y="3017520"/>
            <a:ext cx="3931920" cy="347472"/>
          </a:xfrm>
          <a:prstGeom prst="rect">
            <a:avLst/>
          </a:prstGeom>
          <a:solidFill>
            <a:srgbClr val="F0FDF4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4754880" y="305409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1_MV_004_STATUS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7406640" y="305409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+0.65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4663440" y="3429000"/>
            <a:ext cx="3931920" cy="347472"/>
          </a:xfrm>
          <a:prstGeom prst="rect">
            <a:avLst/>
          </a:prstGeom>
          <a:solidFill>
            <a:srgbClr val="FFF5F5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4754880" y="346557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1_AIT_005_PV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7406640" y="346557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−0.30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4663440" y="3840480"/>
            <a:ext cx="3931920" cy="347472"/>
          </a:xfrm>
          <a:prstGeom prst="rect">
            <a:avLst/>
          </a:prstGeom>
          <a:solidFill>
            <a:srgbClr val="FFF5F5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4754880" y="387705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TOTAL_CONS_REQ_FLOW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7406640" y="387705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−0.26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4663440" y="4251960"/>
            <a:ext cx="3931920" cy="347472"/>
          </a:xfrm>
          <a:prstGeom prst="rect">
            <a:avLst/>
          </a:prstGeom>
          <a:solidFill>
            <a:srgbClr val="F0FDF4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4754880" y="428853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2_MV_201_STATUS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7406640" y="428853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+0.19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4663440" y="4663440"/>
            <a:ext cx="3931920" cy="347472"/>
          </a:xfrm>
          <a:prstGeom prst="rect">
            <a:avLst/>
          </a:prstGeom>
          <a:solidFill>
            <a:srgbClr val="F0FDF4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4754880" y="470001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2_FIC_101_CO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7406640" y="470001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+0.17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/>
          <p:nvPr/>
        </p:nvSpPr>
        <p:spPr>
          <a:xfrm>
            <a:off x="457200" y="22860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Exploration des données (EDA)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" name="Google Shape;13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7213" y="929700"/>
            <a:ext cx="7089573" cy="173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96575" y="2669650"/>
            <a:ext cx="3550846" cy="247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/>
          <p:nvPr/>
        </p:nvSpPr>
        <p:spPr>
          <a:xfrm>
            <a:off x="457200" y="22860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Exploration des données (EDA)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29700"/>
            <a:ext cx="4334144" cy="4061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8944" y="929700"/>
            <a:ext cx="4336624" cy="4061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Pipeline de Préprocessing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457200" y="1005840"/>
            <a:ext cx="2651760" cy="1645920"/>
          </a:xfrm>
          <a:prstGeom prst="rect">
            <a:avLst/>
          </a:prstGeom>
          <a:solidFill>
            <a:srgbClr val="E8F4F8"/>
          </a:solidFill>
          <a:ln cap="flat" cmpd="sng" w="12700">
            <a:solidFill>
              <a:srgbClr val="E8F4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"/>
          <p:cNvSpPr/>
          <p:nvPr/>
        </p:nvSpPr>
        <p:spPr>
          <a:xfrm>
            <a:off x="457200" y="1005840"/>
            <a:ext cx="2651760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"/>
          <p:cNvSpPr/>
          <p:nvPr/>
        </p:nvSpPr>
        <p:spPr>
          <a:xfrm>
            <a:off x="548640" y="100584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Reconstruction datetime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548640" y="1417320"/>
            <a:ext cx="24688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 Row = 1 seconde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Resample → 1 min (moyenne 60 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3383280" y="1005840"/>
            <a:ext cx="2651760" cy="1645920"/>
          </a:xfrm>
          <a:prstGeom prst="rect">
            <a:avLst/>
          </a:prstGeom>
          <a:solidFill>
            <a:srgbClr val="E8F4F8"/>
          </a:solidFill>
          <a:ln cap="flat" cmpd="sng" w="12700">
            <a:solidFill>
              <a:srgbClr val="E8F4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"/>
          <p:cNvSpPr/>
          <p:nvPr/>
        </p:nvSpPr>
        <p:spPr>
          <a:xfrm>
            <a:off x="3383280" y="1005840"/>
            <a:ext cx="2651760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"/>
          <p:cNvSpPr/>
          <p:nvPr/>
        </p:nvSpPr>
        <p:spPr>
          <a:xfrm>
            <a:off x="3474720" y="100584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Nettoyage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3474720" y="1417320"/>
            <a:ext cx="24688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Suppression 4 cols vides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34 NaN résiduels → interpolation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6309360" y="1005840"/>
            <a:ext cx="2651760" cy="1645920"/>
          </a:xfrm>
          <a:prstGeom prst="rect">
            <a:avLst/>
          </a:prstGeom>
          <a:solidFill>
            <a:srgbClr val="E8F4F8"/>
          </a:solidFill>
          <a:ln cap="flat" cmpd="sng" w="12700">
            <a:solidFill>
              <a:srgbClr val="E8F4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6309360" y="1005840"/>
            <a:ext cx="2651760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"/>
          <p:cNvSpPr/>
          <p:nvPr/>
        </p:nvSpPr>
        <p:spPr>
          <a:xfrm>
            <a:off x="6400800" y="100584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Sélection features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6400800" y="1417320"/>
            <a:ext cx="24688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35 features (débits, vannes,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pompes, setpoints)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457200" y="2926080"/>
            <a:ext cx="2651760" cy="1645920"/>
          </a:xfrm>
          <a:prstGeom prst="rect">
            <a:avLst/>
          </a:prstGeom>
          <a:solidFill>
            <a:srgbClr val="E8F4F8"/>
          </a:solidFill>
          <a:ln cap="flat" cmpd="sng" w="12700">
            <a:solidFill>
              <a:srgbClr val="E8F4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457200" y="2926080"/>
            <a:ext cx="2651760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9"/>
          <p:cNvSpPr/>
          <p:nvPr/>
        </p:nvSpPr>
        <p:spPr>
          <a:xfrm>
            <a:off x="548640" y="292608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Variable cible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548640" y="3337560"/>
            <a:ext cx="24688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target = 1_LT_001_PV décalée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de +10 min (shift 600)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3383280" y="2926080"/>
            <a:ext cx="2651760" cy="1645920"/>
          </a:xfrm>
          <a:prstGeom prst="rect">
            <a:avLst/>
          </a:prstGeom>
          <a:solidFill>
            <a:srgbClr val="E8F4F8"/>
          </a:solidFill>
          <a:ln cap="flat" cmpd="sng" w="12700">
            <a:solidFill>
              <a:srgbClr val="E8F4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"/>
          <p:cNvSpPr/>
          <p:nvPr/>
        </p:nvSpPr>
        <p:spPr>
          <a:xfrm>
            <a:off x="3383280" y="2926080"/>
            <a:ext cx="2651760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3474720" y="292608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Lags tabulaires pour ML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3474720" y="3337560"/>
            <a:ext cx="24688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30 lags sur 11 features clés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366 features finales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6309360" y="2926080"/>
            <a:ext cx="2651760" cy="1645920"/>
          </a:xfrm>
          <a:prstGeom prst="rect">
            <a:avLst/>
          </a:prstGeom>
          <a:solidFill>
            <a:srgbClr val="E8F4F8"/>
          </a:solidFill>
          <a:ln cap="flat" cmpd="sng" w="12700">
            <a:solidFill>
              <a:srgbClr val="E8F4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6309360" y="2926080"/>
            <a:ext cx="2651760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"/>
          <p:cNvSpPr/>
          <p:nvPr/>
        </p:nvSpPr>
        <p:spPr>
          <a:xfrm>
            <a:off x="6400800" y="292608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6. Split + normalisation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6400800" y="3337560"/>
            <a:ext cx="24688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Train 80% · Test 20%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MinMaxScaler (continu)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 : 627 152 lignes (366 features)  ·  Test : 156 789 lignes  ·  Séquences DL : (626 547, 30, 36)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"/>
          <p:cNvSpPr/>
          <p:nvPr/>
        </p:nvSpPr>
        <p:spPr>
          <a:xfrm>
            <a:off x="457200" y="22860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Pipeline de Préprocessing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5223875" y="777375"/>
            <a:ext cx="3462900" cy="41376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5" name="Google Shape;185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150" y="777300"/>
            <a:ext cx="4322614" cy="4137599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0"/>
          <p:cNvSpPr txBox="1"/>
          <p:nvPr/>
        </p:nvSpPr>
        <p:spPr>
          <a:xfrm>
            <a:off x="5268525" y="812600"/>
            <a:ext cx="3375300" cy="40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Sans lag : le modèle voit seulement FIT(t) -&gt; prédit niveau(t+10)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Avec lags : le modèle voit FIT(t), FIT(t-1), ..., FIT(t-30) -&gt; prédit niveau(t+10)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Baselines : référence à battre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457200" y="960120"/>
            <a:ext cx="4572000" cy="338328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1"/>
          <p:cNvSpPr/>
          <p:nvPr/>
        </p:nvSpPr>
        <p:spPr>
          <a:xfrm>
            <a:off x="594360" y="105156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Baseline Persistence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594360" y="1508760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ŷ(t+10) = y(t)  — modèle le plus naïf possible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731520" y="205740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4.26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731520" y="27889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2834640" y="205740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6.10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2834640" y="27889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RMSE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594360" y="324612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Seuil à battre (20%) 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594360" y="352044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MAE &lt; 3.41   ·   RMSE &lt; 4.88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5303520" y="96012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Erreur selon l'horizon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5212080" y="3794760"/>
            <a:ext cx="3474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L'erreur croît fortement avec le temps 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prédire à 30 min est 2× plus difficile qu'à 10 min.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457200" y="4434840"/>
            <a:ext cx="4572000" cy="502920"/>
          </a:xfrm>
          <a:prstGeom prst="rect">
            <a:avLst/>
          </a:prstGeom>
          <a:solidFill>
            <a:srgbClr val="FEF3C7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"/>
          <p:cNvSpPr/>
          <p:nvPr/>
        </p:nvSpPr>
        <p:spPr>
          <a:xfrm>
            <a:off x="548640" y="4462272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Baseline Moyenne (naïve) : MAE = 7.40  RMSE = 8.71  →  Skill = −42.8% vs persistence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p11"/>
          <p:cNvPicPr preferRelativeResize="0"/>
          <p:nvPr/>
        </p:nvPicPr>
        <p:blipFill rotWithShape="1">
          <a:blip r:embed="rId3">
            <a:alphaModFix/>
          </a:blip>
          <a:srcRect b="0" l="-48726" r="49608" t="0"/>
          <a:stretch/>
        </p:blipFill>
        <p:spPr>
          <a:xfrm>
            <a:off x="1169800" y="1342513"/>
            <a:ext cx="7974199" cy="243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"/>
          <p:cNvSpPr/>
          <p:nvPr/>
        </p:nvSpPr>
        <p:spPr>
          <a:xfrm>
            <a:off x="457200" y="22860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Baselines : référence à battre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29700"/>
            <a:ext cx="8776482" cy="406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Modèles ML : Random Forest &amp; XGBoost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3"/>
          <p:cNvSpPr/>
          <p:nvPr/>
        </p:nvSpPr>
        <p:spPr>
          <a:xfrm>
            <a:off x="457200" y="960120"/>
            <a:ext cx="3931920" cy="3383280"/>
          </a:xfrm>
          <a:prstGeom prst="rect">
            <a:avLst/>
          </a:prstGeom>
          <a:solidFill>
            <a:srgbClr val="E8F4F8"/>
          </a:solidFill>
          <a:ln cap="flat" cmpd="sng" w="12700">
            <a:solidFill>
              <a:srgbClr val="E8F4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3"/>
          <p:cNvSpPr/>
          <p:nvPr/>
        </p:nvSpPr>
        <p:spPr>
          <a:xfrm>
            <a:off x="457200" y="960120"/>
            <a:ext cx="3931920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3"/>
          <p:cNvSpPr/>
          <p:nvPr/>
        </p:nvSpPr>
        <p:spPr>
          <a:xfrm>
            <a:off x="594360" y="9601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🌲 Random Forest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3"/>
          <p:cNvSpPr/>
          <p:nvPr/>
        </p:nvSpPr>
        <p:spPr>
          <a:xfrm>
            <a:off x="640080" y="146304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3"/>
          <p:cNvSpPr/>
          <p:nvPr/>
        </p:nvSpPr>
        <p:spPr>
          <a:xfrm>
            <a:off x="640080" y="1783080"/>
            <a:ext cx="1737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1.68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3"/>
          <p:cNvSpPr/>
          <p:nvPr/>
        </p:nvSpPr>
        <p:spPr>
          <a:xfrm>
            <a:off x="2468880" y="146304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RMSE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3"/>
          <p:cNvSpPr/>
          <p:nvPr/>
        </p:nvSpPr>
        <p:spPr>
          <a:xfrm>
            <a:off x="2468880" y="1783080"/>
            <a:ext cx="1737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2.35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3"/>
          <p:cNvSpPr/>
          <p:nvPr/>
        </p:nvSpPr>
        <p:spPr>
          <a:xfrm>
            <a:off x="594360" y="2468880"/>
            <a:ext cx="3611880" cy="347472"/>
          </a:xfrm>
          <a:prstGeom prst="rect">
            <a:avLst/>
          </a:prstGeom>
          <a:solidFill>
            <a:srgbClr val="F0FDF4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3"/>
          <p:cNvSpPr/>
          <p:nvPr/>
        </p:nvSpPr>
        <p:spPr>
          <a:xfrm>
            <a:off x="640080" y="2496312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Skill : +61.52%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3"/>
          <p:cNvSpPr/>
          <p:nvPr/>
        </p:nvSpPr>
        <p:spPr>
          <a:xfrm>
            <a:off x="594360" y="2926080"/>
            <a:ext cx="35661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Arbres parallèles, robuste au bruit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n_estimators = 100 (défaut)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Validation TimeSeriesSplit (pas de data leakage)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3"/>
          <p:cNvSpPr/>
          <p:nvPr/>
        </p:nvSpPr>
        <p:spPr>
          <a:xfrm>
            <a:off x="4663440" y="960120"/>
            <a:ext cx="4023360" cy="3383280"/>
          </a:xfrm>
          <a:prstGeom prst="rect">
            <a:avLst/>
          </a:prstGeom>
          <a:solidFill>
            <a:srgbClr val="E8F4F8"/>
          </a:solidFill>
          <a:ln cap="flat" cmpd="sng" w="12700">
            <a:solidFill>
              <a:srgbClr val="E8F4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3"/>
          <p:cNvSpPr/>
          <p:nvPr/>
        </p:nvSpPr>
        <p:spPr>
          <a:xfrm>
            <a:off x="4663440" y="960120"/>
            <a:ext cx="4023360" cy="3657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3"/>
          <p:cNvSpPr/>
          <p:nvPr/>
        </p:nvSpPr>
        <p:spPr>
          <a:xfrm>
            <a:off x="4800600" y="96012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⚡ XGBoost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3"/>
          <p:cNvSpPr/>
          <p:nvPr/>
        </p:nvSpPr>
        <p:spPr>
          <a:xfrm>
            <a:off x="4754880" y="14630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3"/>
          <p:cNvSpPr/>
          <p:nvPr/>
        </p:nvSpPr>
        <p:spPr>
          <a:xfrm>
            <a:off x="4754880" y="178308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1.94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6675120" y="14630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RMSE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3"/>
          <p:cNvSpPr/>
          <p:nvPr/>
        </p:nvSpPr>
        <p:spPr>
          <a:xfrm>
            <a:off x="6675120" y="178308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2.56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3"/>
          <p:cNvSpPr/>
          <p:nvPr/>
        </p:nvSpPr>
        <p:spPr>
          <a:xfrm>
            <a:off x="4800600" y="2468880"/>
            <a:ext cx="3749040" cy="347472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3"/>
          <p:cNvSpPr/>
          <p:nvPr/>
        </p:nvSpPr>
        <p:spPr>
          <a:xfrm>
            <a:off x="4846320" y="2496312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Skill : +58.01%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4800600" y="2926080"/>
            <a:ext cx="37490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Gradient boosting séquentiel (corrèle les erreurs)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Optimisation Optuna (30 trials) : lr=0.025, depth=6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Early stopping sur val loss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3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Meilleur ML : Random Forest  ·  MAE = 1.68  ·  Gain vs persistence : −60.6%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4"/>
          <p:cNvSpPr/>
          <p:nvPr/>
        </p:nvSpPr>
        <p:spPr>
          <a:xfrm>
            <a:off x="457200" y="22860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Modèles ML : Random Forest &amp; XGBoost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4"/>
          <p:cNvSpPr/>
          <p:nvPr/>
        </p:nvSpPr>
        <p:spPr>
          <a:xfrm>
            <a:off x="457200" y="4480560"/>
            <a:ext cx="8229600" cy="4116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4"/>
          <p:cNvSpPr/>
          <p:nvPr/>
        </p:nvSpPr>
        <p:spPr>
          <a:xfrm>
            <a:off x="457200" y="448056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Meilleur ML : Random Forest  ·  MAE = 1.68  ·  Gain vs persistence : −60.6%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0" name="Google Shape;25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600" y="872525"/>
            <a:ext cx="4259819" cy="3398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7244" y="927425"/>
            <a:ext cx="4122179" cy="328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5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Modèles Deep Learning : LSTM &amp; GRU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5"/>
          <p:cNvSpPr/>
          <p:nvPr/>
        </p:nvSpPr>
        <p:spPr>
          <a:xfrm>
            <a:off x="457200" y="960120"/>
            <a:ext cx="8229600" cy="731520"/>
          </a:xfrm>
          <a:prstGeom prst="rect">
            <a:avLst/>
          </a:prstGeom>
          <a:solidFill>
            <a:srgbClr val="E8F4F8"/>
          </a:solidFill>
          <a:ln cap="flat" cmpd="sng" w="12700">
            <a:solidFill>
              <a:srgbClr val="E8F4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5"/>
          <p:cNvSpPr/>
          <p:nvPr/>
        </p:nvSpPr>
        <p:spPr>
          <a:xfrm>
            <a:off x="640080" y="100584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Architecture  ·  Input (batch, 30, 36)  →  RNN 2 couches (hidden=128, dropout=0.2)  →  Linear(128→64)  →  ReLU  →  Linear(64→1)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5"/>
          <p:cNvSpPr/>
          <p:nvPr/>
        </p:nvSpPr>
        <p:spPr>
          <a:xfrm>
            <a:off x="457200" y="1874520"/>
            <a:ext cx="3931920" cy="2834640"/>
          </a:xfrm>
          <a:prstGeom prst="rect">
            <a:avLst/>
          </a:prstGeom>
          <a:solidFill>
            <a:srgbClr val="E8F4F8"/>
          </a:solidFill>
          <a:ln cap="flat" cmpd="sng" w="12700">
            <a:solidFill>
              <a:srgbClr val="E8F4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5"/>
          <p:cNvSpPr/>
          <p:nvPr/>
        </p:nvSpPr>
        <p:spPr>
          <a:xfrm>
            <a:off x="457200" y="1874520"/>
            <a:ext cx="393192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5"/>
          <p:cNvSpPr/>
          <p:nvPr/>
        </p:nvSpPr>
        <p:spPr>
          <a:xfrm>
            <a:off x="594360" y="18745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LSTM   (225 409 params)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5"/>
          <p:cNvSpPr/>
          <p:nvPr/>
        </p:nvSpPr>
        <p:spPr>
          <a:xfrm>
            <a:off x="640080" y="237744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5"/>
          <p:cNvSpPr/>
          <p:nvPr/>
        </p:nvSpPr>
        <p:spPr>
          <a:xfrm>
            <a:off x="640080" y="2651760"/>
            <a:ext cx="1737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1.47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5"/>
          <p:cNvSpPr/>
          <p:nvPr/>
        </p:nvSpPr>
        <p:spPr>
          <a:xfrm>
            <a:off x="2468880" y="237744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RMSE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5"/>
          <p:cNvSpPr/>
          <p:nvPr/>
        </p:nvSpPr>
        <p:spPr>
          <a:xfrm>
            <a:off x="2468880" y="2651760"/>
            <a:ext cx="1737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2.13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5"/>
          <p:cNvSpPr/>
          <p:nvPr/>
        </p:nvSpPr>
        <p:spPr>
          <a:xfrm>
            <a:off x="594360" y="3337560"/>
            <a:ext cx="3611880" cy="320040"/>
          </a:xfrm>
          <a:prstGeom prst="rect">
            <a:avLst/>
          </a:prstGeom>
          <a:solidFill>
            <a:srgbClr val="F0FDF4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5"/>
          <p:cNvSpPr/>
          <p:nvPr/>
        </p:nvSpPr>
        <p:spPr>
          <a:xfrm>
            <a:off x="640080" y="3355848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Skill : +65.05%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5"/>
          <p:cNvSpPr/>
          <p:nvPr/>
        </p:nvSpPr>
        <p:spPr>
          <a:xfrm>
            <a:off x="594360" y="3749040"/>
            <a:ext cx="3566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Convergence : ~30</a:t>
            </a:r>
            <a:r>
              <a:rPr lang="en-US" sz="11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40 epochs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Early stopping (patience 12)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5"/>
          <p:cNvSpPr/>
          <p:nvPr/>
        </p:nvSpPr>
        <p:spPr>
          <a:xfrm>
            <a:off x="4663440" y="1874520"/>
            <a:ext cx="4023360" cy="2834640"/>
          </a:xfrm>
          <a:prstGeom prst="rect">
            <a:avLst/>
          </a:prstGeom>
          <a:solidFill>
            <a:srgbClr val="E8F4F8"/>
          </a:solidFill>
          <a:ln cap="flat" cmpd="sng" w="12700">
            <a:solidFill>
              <a:srgbClr val="E8F4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5"/>
          <p:cNvSpPr/>
          <p:nvPr/>
        </p:nvSpPr>
        <p:spPr>
          <a:xfrm>
            <a:off x="4663440" y="1874520"/>
            <a:ext cx="4023360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5"/>
          <p:cNvSpPr/>
          <p:nvPr/>
        </p:nvSpPr>
        <p:spPr>
          <a:xfrm>
            <a:off x="4800600" y="187452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GRU   (171 137 params)  Meilleur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5"/>
          <p:cNvSpPr/>
          <p:nvPr/>
        </p:nvSpPr>
        <p:spPr>
          <a:xfrm>
            <a:off x="4754880" y="23774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5"/>
          <p:cNvSpPr/>
          <p:nvPr/>
        </p:nvSpPr>
        <p:spPr>
          <a:xfrm>
            <a:off x="4754880" y="265176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1.48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5"/>
          <p:cNvSpPr/>
          <p:nvPr/>
        </p:nvSpPr>
        <p:spPr>
          <a:xfrm>
            <a:off x="6675120" y="23774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RMSE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5"/>
          <p:cNvSpPr/>
          <p:nvPr/>
        </p:nvSpPr>
        <p:spPr>
          <a:xfrm>
            <a:off x="6675120" y="265176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2.08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5"/>
          <p:cNvSpPr/>
          <p:nvPr/>
        </p:nvSpPr>
        <p:spPr>
          <a:xfrm>
            <a:off x="4800600" y="3337560"/>
            <a:ext cx="3749040" cy="320040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5"/>
          <p:cNvSpPr/>
          <p:nvPr/>
        </p:nvSpPr>
        <p:spPr>
          <a:xfrm>
            <a:off x="4846320" y="335584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Skill : +65.89%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5"/>
          <p:cNvSpPr/>
          <p:nvPr/>
        </p:nvSpPr>
        <p:spPr>
          <a:xfrm>
            <a:off x="4800600" y="3749040"/>
            <a:ext cx="3749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24% de paramètres vs LSTM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Entraînement plus rapide (early stopping rapide)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GRU plus léger que LSTM, convergence plus rapide, RMSE légèrement meilleur → choix final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6"/>
          <p:cNvSpPr/>
          <p:nvPr/>
        </p:nvSpPr>
        <p:spPr>
          <a:xfrm>
            <a:off x="457200" y="22860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Modèles Deep Learning : LSTM &amp; GRU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6"/>
          <p:cNvSpPr/>
          <p:nvPr/>
        </p:nvSpPr>
        <p:spPr>
          <a:xfrm>
            <a:off x="457200" y="4663440"/>
            <a:ext cx="8229600" cy="3201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6"/>
          <p:cNvSpPr/>
          <p:nvPr/>
        </p:nvSpPr>
        <p:spPr>
          <a:xfrm>
            <a:off x="457200" y="46634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GRU plus léger que LSTM, convergence plus rapide, RMSE légèrement meilleur → choix final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0" name="Google Shape;29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54700"/>
            <a:ext cx="8839199" cy="24746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7"/>
          <p:cNvSpPr/>
          <p:nvPr/>
        </p:nvSpPr>
        <p:spPr>
          <a:xfrm>
            <a:off x="457200" y="22860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Tableau comparatif </a:t>
            </a:r>
            <a:r>
              <a:rPr b="1" lang="en-US" sz="28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de t</a:t>
            </a:r>
            <a:r>
              <a:rPr b="1" i="0" lang="en-US" sz="28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ous les modèles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7" name="Google Shape;297;p17"/>
          <p:cNvGraphicFramePr/>
          <p:nvPr/>
        </p:nvGraphicFramePr>
        <p:xfrm>
          <a:off x="2616768" y="1341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{3DB7A680-4E2C-4A8E-B37A-60B6E6711105}</a:tableStyleId>
              </a:tblPr>
              <a:tblGrid>
                <a:gridCol w="1270950"/>
                <a:gridCol w="764875"/>
                <a:gridCol w="692350"/>
                <a:gridCol w="735850"/>
              </a:tblGrid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Modèle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MAE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RMSE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Skill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Persistence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4.26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6.10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/>
                        <a:t>0%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RF (défaut)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59669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59669"/>
                          </a:solidFill>
                        </a:rPr>
                        <a:t>1.68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59669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59669"/>
                          </a:solidFill>
                        </a:rPr>
                        <a:t>2.35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59669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59669"/>
                          </a:solidFill>
                        </a:rPr>
                        <a:t>+61.5%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XGBoost (Optuna)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729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7293"/>
                          </a:solidFill>
                        </a:rPr>
                        <a:t>1.94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729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7293"/>
                          </a:solidFill>
                        </a:rPr>
                        <a:t>2.56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729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7293"/>
                          </a:solidFill>
                        </a:rPr>
                        <a:t>+58.0%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LSTM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59669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59669"/>
                          </a:solidFill>
                        </a:rPr>
                        <a:t>1.47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59669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59669"/>
                          </a:solidFill>
                        </a:rPr>
                        <a:t>2.13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59669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59669"/>
                          </a:solidFill>
                        </a:rPr>
                        <a:t>+65.0%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GRU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C3AED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7C3AED"/>
                          </a:solidFill>
                        </a:rPr>
                        <a:t>1.48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C3AED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7C3AED"/>
                          </a:solidFill>
                        </a:rPr>
                        <a:t>2.08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C3AED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7C3AED"/>
                          </a:solidFill>
                        </a:rPr>
                        <a:t>+65.9%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8" name="Google Shape;298;p17"/>
          <p:cNvSpPr/>
          <p:nvPr/>
        </p:nvSpPr>
        <p:spPr>
          <a:xfrm>
            <a:off x="457200" y="4251960"/>
            <a:ext cx="8229600" cy="548700"/>
          </a:xfrm>
          <a:prstGeom prst="rect">
            <a:avLst/>
          </a:prstGeom>
          <a:solidFill>
            <a:srgbClr val="F0FDF4"/>
          </a:solidFill>
          <a:ln cap="flat" cmpd="sng" w="254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7"/>
          <p:cNvSpPr/>
          <p:nvPr/>
        </p:nvSpPr>
        <p:spPr>
          <a:xfrm>
            <a:off x="640080" y="4297680"/>
            <a:ext cx="7863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Critère de réussite atteint par tous les modèles ML/DL (MAE &lt; 3.41, RMSE &lt; 4.88, Skill &gt; 20%)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7"/>
          <p:cNvSpPr/>
          <p:nvPr/>
        </p:nvSpPr>
        <p:spPr>
          <a:xfrm>
            <a:off x="457200" y="484632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Meilleur modèle global : GRU  ·  RMSE = 2.08  ·  Skill = +65.9%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8"/>
          <p:cNvSpPr/>
          <p:nvPr/>
        </p:nvSpPr>
        <p:spPr>
          <a:xfrm>
            <a:off x="457200" y="22860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Tableau comparatif </a:t>
            </a:r>
            <a:r>
              <a:rPr b="1" lang="en-US" sz="28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de t</a:t>
            </a:r>
            <a:r>
              <a:rPr b="1" i="0" lang="en-US" sz="28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ous les modèles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8"/>
          <p:cNvSpPr/>
          <p:nvPr/>
        </p:nvSpPr>
        <p:spPr>
          <a:xfrm>
            <a:off x="457200" y="4251960"/>
            <a:ext cx="8229600" cy="548700"/>
          </a:xfrm>
          <a:prstGeom prst="rect">
            <a:avLst/>
          </a:prstGeom>
          <a:solidFill>
            <a:srgbClr val="F0FDF4"/>
          </a:solidFill>
          <a:ln cap="flat" cmpd="sng" w="254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8"/>
          <p:cNvSpPr/>
          <p:nvPr/>
        </p:nvSpPr>
        <p:spPr>
          <a:xfrm>
            <a:off x="640080" y="4297680"/>
            <a:ext cx="7863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Critère de réussite atteint par tous les modèles ML/DL (MAE &lt; 3.41, RMSE &lt; 4.88, Skill &gt; 20%)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8"/>
          <p:cNvSpPr/>
          <p:nvPr/>
        </p:nvSpPr>
        <p:spPr>
          <a:xfrm>
            <a:off x="457200" y="484632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Meilleur modèle global : GRU  ·  RMSE = 2.08  ·  Skill = +65.9%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0" name="Google Shape;31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29700"/>
            <a:ext cx="8839200" cy="2385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9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Analyse SHAP Interprétabilité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9"/>
          <p:cNvSpPr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solidFill>
            <a:srgbClr val="E8F4F8"/>
          </a:solidFill>
          <a:ln cap="flat" cmpd="sng" w="12700">
            <a:solidFill>
              <a:srgbClr val="E8F4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9"/>
          <p:cNvSpPr/>
          <p:nvPr/>
        </p:nvSpPr>
        <p:spPr>
          <a:xfrm>
            <a:off x="640080" y="100584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SHAP TreeExplainer (XGBoost) sur 2 000 points du test  valeurs SHAP = contribution de chaque feature à la prédiction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9"/>
          <p:cNvSpPr/>
          <p:nvPr/>
        </p:nvSpPr>
        <p:spPr>
          <a:xfrm>
            <a:off x="457200" y="160020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Top features SHAP (importance globale)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9"/>
          <p:cNvSpPr/>
          <p:nvPr/>
        </p:nvSpPr>
        <p:spPr>
          <a:xfrm>
            <a:off x="457200" y="2057400"/>
            <a:ext cx="4114800" cy="30175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9"/>
          <p:cNvSpPr/>
          <p:nvPr/>
        </p:nvSpPr>
        <p:spPr>
          <a:xfrm>
            <a:off x="457200" y="2093976"/>
            <a:ext cx="3200400" cy="2286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9"/>
          <p:cNvSpPr/>
          <p:nvPr/>
        </p:nvSpPr>
        <p:spPr>
          <a:xfrm>
            <a:off x="502920" y="2093976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1_LT_001_PV (t)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9"/>
          <p:cNvSpPr/>
          <p:nvPr/>
        </p:nvSpPr>
        <p:spPr>
          <a:xfrm>
            <a:off x="3749040" y="2057400"/>
            <a:ext cx="7772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2.25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9"/>
          <p:cNvSpPr/>
          <p:nvPr/>
        </p:nvSpPr>
        <p:spPr>
          <a:xfrm>
            <a:off x="457200" y="2423160"/>
            <a:ext cx="4114800" cy="30175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9"/>
          <p:cNvSpPr/>
          <p:nvPr/>
        </p:nvSpPr>
        <p:spPr>
          <a:xfrm>
            <a:off x="457200" y="2459736"/>
            <a:ext cx="1792224" cy="2286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9"/>
          <p:cNvSpPr/>
          <p:nvPr/>
        </p:nvSpPr>
        <p:spPr>
          <a:xfrm>
            <a:off x="502920" y="2459736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1_LT_001_PV_lag1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9"/>
          <p:cNvSpPr/>
          <p:nvPr/>
        </p:nvSpPr>
        <p:spPr>
          <a:xfrm>
            <a:off x="3749040" y="2423160"/>
            <a:ext cx="7772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1.25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9"/>
          <p:cNvSpPr/>
          <p:nvPr/>
        </p:nvSpPr>
        <p:spPr>
          <a:xfrm>
            <a:off x="457200" y="2788920"/>
            <a:ext cx="4114800" cy="30175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9"/>
          <p:cNvSpPr/>
          <p:nvPr/>
        </p:nvSpPr>
        <p:spPr>
          <a:xfrm>
            <a:off x="457200" y="2825496"/>
            <a:ext cx="1632204" cy="2286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9"/>
          <p:cNvSpPr/>
          <p:nvPr/>
        </p:nvSpPr>
        <p:spPr>
          <a:xfrm>
            <a:off x="502920" y="2825496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2_PIT_001_PV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9"/>
          <p:cNvSpPr/>
          <p:nvPr/>
        </p:nvSpPr>
        <p:spPr>
          <a:xfrm>
            <a:off x="3749040" y="2788920"/>
            <a:ext cx="7772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1.15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9"/>
          <p:cNvSpPr/>
          <p:nvPr/>
        </p:nvSpPr>
        <p:spPr>
          <a:xfrm>
            <a:off x="457200" y="3154680"/>
            <a:ext cx="4114800" cy="30175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9"/>
          <p:cNvSpPr/>
          <p:nvPr/>
        </p:nvSpPr>
        <p:spPr>
          <a:xfrm>
            <a:off x="457200" y="3191256"/>
            <a:ext cx="1504188" cy="2286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9"/>
          <p:cNvSpPr/>
          <p:nvPr/>
        </p:nvSpPr>
        <p:spPr>
          <a:xfrm>
            <a:off x="502920" y="3191256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1_FIT_001_PV_lag30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9"/>
          <p:cNvSpPr/>
          <p:nvPr/>
        </p:nvSpPr>
        <p:spPr>
          <a:xfrm>
            <a:off x="3749040" y="3154680"/>
            <a:ext cx="7772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1.05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9"/>
          <p:cNvSpPr/>
          <p:nvPr/>
        </p:nvSpPr>
        <p:spPr>
          <a:xfrm>
            <a:off x="457200" y="3520440"/>
            <a:ext cx="4114800" cy="30175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9"/>
          <p:cNvSpPr/>
          <p:nvPr/>
        </p:nvSpPr>
        <p:spPr>
          <a:xfrm>
            <a:off x="457200" y="3557016"/>
            <a:ext cx="1024128" cy="2286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9"/>
          <p:cNvSpPr/>
          <p:nvPr/>
        </p:nvSpPr>
        <p:spPr>
          <a:xfrm>
            <a:off x="502920" y="3557016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1_FIT_001_PV_lag29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9"/>
          <p:cNvSpPr/>
          <p:nvPr/>
        </p:nvSpPr>
        <p:spPr>
          <a:xfrm>
            <a:off x="3749040" y="3520440"/>
            <a:ext cx="7772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0.73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9"/>
          <p:cNvSpPr/>
          <p:nvPr/>
        </p:nvSpPr>
        <p:spPr>
          <a:xfrm>
            <a:off x="457200" y="3886200"/>
            <a:ext cx="4114800" cy="30175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9"/>
          <p:cNvSpPr/>
          <p:nvPr/>
        </p:nvSpPr>
        <p:spPr>
          <a:xfrm>
            <a:off x="457200" y="3922776"/>
            <a:ext cx="1024128" cy="2286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9"/>
          <p:cNvSpPr/>
          <p:nvPr/>
        </p:nvSpPr>
        <p:spPr>
          <a:xfrm>
            <a:off x="502920" y="3922776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2_PIT_002_PV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9"/>
          <p:cNvSpPr/>
          <p:nvPr/>
        </p:nvSpPr>
        <p:spPr>
          <a:xfrm>
            <a:off x="3749040" y="3886200"/>
            <a:ext cx="7772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0.72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9"/>
          <p:cNvSpPr/>
          <p:nvPr/>
        </p:nvSpPr>
        <p:spPr>
          <a:xfrm>
            <a:off x="457200" y="4251960"/>
            <a:ext cx="4114800" cy="30175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9"/>
          <p:cNvSpPr/>
          <p:nvPr/>
        </p:nvSpPr>
        <p:spPr>
          <a:xfrm>
            <a:off x="457200" y="4288536"/>
            <a:ext cx="1024128" cy="2286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9"/>
          <p:cNvSpPr/>
          <p:nvPr/>
        </p:nvSpPr>
        <p:spPr>
          <a:xfrm>
            <a:off x="502920" y="4288536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1_LT_001_PV_lag2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9"/>
          <p:cNvSpPr/>
          <p:nvPr/>
        </p:nvSpPr>
        <p:spPr>
          <a:xfrm>
            <a:off x="3749040" y="4251960"/>
            <a:ext cx="7772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0.72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9"/>
          <p:cNvSpPr/>
          <p:nvPr/>
        </p:nvSpPr>
        <p:spPr>
          <a:xfrm>
            <a:off x="4754880" y="160020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Insights SHAP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9"/>
          <p:cNvSpPr/>
          <p:nvPr/>
        </p:nvSpPr>
        <p:spPr>
          <a:xfrm>
            <a:off x="4754880" y="2057400"/>
            <a:ext cx="3931920" cy="2560320"/>
          </a:xfrm>
          <a:prstGeom prst="rect">
            <a:avLst/>
          </a:prstGeom>
          <a:solidFill>
            <a:srgbClr val="E8F4F8"/>
          </a:solidFill>
          <a:ln cap="flat" cmpd="sng" w="12700">
            <a:solidFill>
              <a:srgbClr val="E8F4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9"/>
          <p:cNvSpPr/>
          <p:nvPr/>
        </p:nvSpPr>
        <p:spPr>
          <a:xfrm>
            <a:off x="4846320" y="2194560"/>
            <a:ext cx="3657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1_LT_001_PV (valeur actuelle) : feature dominante (SHAP = 2.25)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Lags récents très importants (lag1, lag2) → forte mémoire court terme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Lags lointains actifs (lag29, lag30) → mémoire longue (~30 min)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Capteurs de pression (2_PIT_001/002_PV) = bons prédicteurs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RF et XGBoost divergent en ranking (Spearman = 0.42) → structures complémentaires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Visual check : modèle réagit aux activations pompe 1_P_001_STATUS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Analyse d'importance : critère de réussite du guide projet 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0"/>
          <p:cNvSpPr/>
          <p:nvPr/>
        </p:nvSpPr>
        <p:spPr>
          <a:xfrm>
            <a:off x="457200" y="22860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Analyse SHAP  Interprétabilité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9" name="Google Shape;35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77300"/>
            <a:ext cx="8534400" cy="421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1"/>
          <p:cNvSpPr/>
          <p:nvPr/>
        </p:nvSpPr>
        <p:spPr>
          <a:xfrm>
            <a:off x="594360" y="320040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 &amp; Perspectives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1"/>
          <p:cNvSpPr/>
          <p:nvPr/>
        </p:nvSpPr>
        <p:spPr>
          <a:xfrm>
            <a:off x="594360" y="109728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Bilan du projet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1"/>
          <p:cNvSpPr/>
          <p:nvPr/>
        </p:nvSpPr>
        <p:spPr>
          <a:xfrm>
            <a:off x="594360" y="1508760"/>
            <a:ext cx="39319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Forecasting multivarié à t+10 min sur données WADI réelles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Tous les critères de réussite atteints (Skill &gt; +58%)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Meilleur modèle : GRU  (MAE=1.48, RMSE=2.08, Skill=+65.9%)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Analyse SHAP : features physiques interprétables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1"/>
          <p:cNvSpPr/>
          <p:nvPr/>
        </p:nvSpPr>
        <p:spPr>
          <a:xfrm>
            <a:off x="594360" y="3291840"/>
            <a:ext cx="1234440" cy="9144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1"/>
          <p:cNvSpPr/>
          <p:nvPr/>
        </p:nvSpPr>
        <p:spPr>
          <a:xfrm>
            <a:off x="594360" y="3337560"/>
            <a:ext cx="1234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1.48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1"/>
          <p:cNvSpPr/>
          <p:nvPr/>
        </p:nvSpPr>
        <p:spPr>
          <a:xfrm>
            <a:off x="594360" y="388620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GRU MAE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1"/>
          <p:cNvSpPr/>
          <p:nvPr/>
        </p:nvSpPr>
        <p:spPr>
          <a:xfrm>
            <a:off x="2011680" y="3291840"/>
            <a:ext cx="1234440" cy="9144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1"/>
          <p:cNvSpPr/>
          <p:nvPr/>
        </p:nvSpPr>
        <p:spPr>
          <a:xfrm>
            <a:off x="2011680" y="3337560"/>
            <a:ext cx="1234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2.08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1"/>
          <p:cNvSpPr/>
          <p:nvPr/>
        </p:nvSpPr>
        <p:spPr>
          <a:xfrm>
            <a:off x="2011680" y="388620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GRU RMSE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1"/>
          <p:cNvSpPr/>
          <p:nvPr/>
        </p:nvSpPr>
        <p:spPr>
          <a:xfrm>
            <a:off x="3429000" y="3291840"/>
            <a:ext cx="1234440" cy="9144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1"/>
          <p:cNvSpPr/>
          <p:nvPr/>
        </p:nvSpPr>
        <p:spPr>
          <a:xfrm>
            <a:off x="3429000" y="3337560"/>
            <a:ext cx="1234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+65.9%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1"/>
          <p:cNvSpPr/>
          <p:nvPr/>
        </p:nvSpPr>
        <p:spPr>
          <a:xfrm>
            <a:off x="3429000" y="388620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Skill score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1"/>
          <p:cNvSpPr/>
          <p:nvPr/>
        </p:nvSpPr>
        <p:spPr>
          <a:xfrm>
            <a:off x="4754880" y="109728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Extensions possibles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1"/>
          <p:cNvSpPr/>
          <p:nvPr/>
        </p:nvSpPr>
        <p:spPr>
          <a:xfrm>
            <a:off x="4754880" y="1508760"/>
            <a:ext cx="3931920" cy="27432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1"/>
          <p:cNvSpPr/>
          <p:nvPr/>
        </p:nvSpPr>
        <p:spPr>
          <a:xfrm>
            <a:off x="4892040" y="1645920"/>
            <a:ext cx="361188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Prédiction probabiliste (quantiles, intervalles de confiance)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Détection d'anomalies simultanée (forecast + anomaly detector)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Optimisation énergie pompes par Reinforcement Learning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Déploiement temps réel (SCADA / edge computing)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1"/>
          <p:cNvSpPr/>
          <p:nvPr/>
        </p:nvSpPr>
        <p:spPr>
          <a:xfrm>
            <a:off x="594360" y="470916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Merci pour votre attention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